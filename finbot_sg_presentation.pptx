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Fin.Bot SG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EDF5"/>
                </a:solidFill>
              </a:rPr>
              <a:t>Visualisez l'avenir de vos rapports financiers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560320"/>
            <a:ext cx="27432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Stratégie CDO — Architecture &amp; Gouvernance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3832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Gen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33832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Société Générale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33832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Datathon 2024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33832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MBA ESG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Rafika Ayari Cervera &amp; Karim Belgacem  —  Co-Chief Data Officers  |  21.12.2024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Sommaire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0613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Contexte &amp; Objectifs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Pourquoi ce chatbot financier 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640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0613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Architecture &amp; Pipeline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3 étapes clés du processus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2743200" cy="640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0613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Gouvernance des données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Qualité, sécurité, conformité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743200" cy="640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0613"/>
                </a:solidFill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11480" y="3520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Organisation &amp; Méthodologie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Équipe Agile — 6 Sprints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2743200" cy="640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0613"/>
                </a:solidFill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337560" y="3520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Estimation des coûts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Budget total : 82 350 €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26080"/>
            <a:ext cx="2743200" cy="640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0613"/>
                </a:solidFill>
              </a:rPr>
              <a:t>06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263640" y="35204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Conclusion &amp; Recommandations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Vision et prochaines étapes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— Contexte &amp; Objectifs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Contexte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02920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64008" cy="32461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Projet initié lors d'un Datathon MBA ESG Paris,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ESG Executive et Bucharest University avec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Société Générale Global Solution Centre.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Objectif : déployer un assistant virtuel Gen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pour le reporting financier et réglementaire.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770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Technologies : ChatGPT, Llama3, Alteryx,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153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Python, Power BI — données BIS 2013-2022.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005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Objectifs stratégiques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77840" y="1463040"/>
            <a:ext cx="329184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4630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0613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15087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Automatiser le reporting financier — réduire le temps de 50%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377440"/>
            <a:ext cx="329184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23774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2423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Analyser 182 878 observations de dérivés OTC en langage naturel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3291840"/>
            <a:ext cx="329184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23560" y="32918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5040" y="3337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Générer des datavisualisations automatiques pour les décideurs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4206240"/>
            <a:ext cx="3291840" cy="777240"/>
          </a:xfrm>
          <a:prstGeom prst="rect">
            <a:avLst/>
          </a:prstGeom>
          <a:solidFill>
            <a:srgbClr val="F8FAFC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42062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C71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5040" y="4251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Garantir conformité RGPD, Bâle III et sécurité des données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&amp; Karim Belgacem  |  Fin.Bot SG — Datathon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— Architecture &amp;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3749040"/>
          </a:xfrm>
          <a:prstGeom prst="rect">
            <a:avLst/>
          </a:prstGeom>
          <a:solidFill>
            <a:srgbClr val="F8FAFC"/>
          </a:solidFill>
          <a:ln w="1905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697480" cy="59436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Intégration des données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2880360"/>
            <a:ext cx="91440" cy="0"/>
          </a:xfrm>
          <a:prstGeom prst="line">
            <a:avLst/>
          </a:prstGeom>
          <a:noFill/>
          <a:ln w="25400">
            <a:solidFill>
              <a:srgbClr val="E306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10512"/>
            <a:ext cx="182880" cy="1828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373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Extraction données BIS nettoyées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82880" cy="1828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9572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Connexion bases financières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182880" cy="1828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5409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Workflows automatiques Alteryx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182880" cy="1828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12464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Pipeline reproductible Python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2697480" cy="3749040"/>
          </a:xfrm>
          <a:prstGeom prst="rect">
            <a:avLst/>
          </a:prstGeom>
          <a:solidFill>
            <a:srgbClr val="F8FAFC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05840"/>
            <a:ext cx="2697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10058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10058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Connexion API OpenAI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9320" y="2880360"/>
            <a:ext cx="914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1810512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17373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API GPT-3.5-turbo / GPT-4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246888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39572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Contexte financier injecté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3127248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05409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Requêtes en langage naturel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3785616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3712464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Réponses précises et chiffrées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1005840"/>
            <a:ext cx="2697480" cy="3749040"/>
          </a:xfrm>
          <a:prstGeom prst="rect">
            <a:avLst/>
          </a:prstGeom>
          <a:solidFill>
            <a:srgbClr val="F8FAFC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005840"/>
            <a:ext cx="2697480" cy="5943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10058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100584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&amp; Déploiement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1810512"/>
            <a:ext cx="182880" cy="1828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17373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Tests approfondis du chatbot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09360" y="2468880"/>
            <a:ext cx="182880" cy="1828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239572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Validation cohérence réponses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3127248"/>
            <a:ext cx="182880" cy="1828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3054096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Datavisualisations automatiques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09360" y="3785616"/>
            <a:ext cx="182880" cy="1828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3712464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Déploiement solution validée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&amp; Karim Belgacem  |  Fin.Bot SG — Datathon 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— Gouvernance des données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783080"/>
          </a:xfrm>
          <a:prstGeom prst="rect">
            <a:avLst/>
          </a:prstGeom>
          <a:solidFill>
            <a:srgbClr val="F8FAFC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Qualité des données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Contrôle de cohérence sur séries historiques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Détection anomalies et valeurs aberrantes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Validation croisée multi-sources BIS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Score de complétude par période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1783080"/>
          </a:xfrm>
          <a:prstGeom prst="rect">
            <a:avLst/>
          </a:prstGeom>
          <a:solidFill>
            <a:srgbClr val="F8FAFC"/>
          </a:solidFill>
          <a:ln w="1905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Sécurité &amp; Conformité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Chiffrement end-to-end données financières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Contrôle d'accès basé sur les rôles (RBAC)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Conformité RGPD et réglementations SOX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Protection contre les cyber-attaques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60520" cy="1783080"/>
          </a:xfrm>
          <a:prstGeom prst="rect">
            <a:avLst/>
          </a:prstGeom>
          <a:solidFill>
            <a:srgbClr val="F8FAFC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4160520" cy="4114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718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Architecture évolutive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Modularité : data / visualisation / 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74904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Déployable SaaS ou intégration enterprise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06908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Compatibilité cloud AWS / Azure / GCP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38912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API temps réel pour requêtes instantanées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F8FAFC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71800"/>
            <a:ext cx="4160520" cy="4114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9718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Traçabilité &amp; Audit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42900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Logs complets de toutes les requêtes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74904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Historique des rapports générés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06908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Versioning des modèles IA utilisés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38912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 Rapport d'audit automatique mensuel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&amp; Karim Belgacem  |  Fin.Bot SG — Datathon 2024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Organisation &amp; Méthodologie Agile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594360"/>
          </a:xfrm>
          <a:prstGeom prst="rect">
            <a:avLst/>
          </a:prstGeom>
          <a:solidFill>
            <a:srgbClr val="0D1B2A"/>
          </a:solidFill>
          <a:ln w="2540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Chief Data Officers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</a:rPr>
              <a:t>Rafika CERVERA  |  Karim BELGACEM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0" cy="32004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920240"/>
            <a:ext cx="5852160" cy="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1920240"/>
            <a:ext cx="0" cy="27432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920240"/>
            <a:ext cx="0" cy="27432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0" cy="27432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920240"/>
            <a:ext cx="0" cy="27432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0" cy="274320"/>
          </a:xfrm>
          <a:prstGeom prst="line">
            <a:avLst/>
          </a:prstGeom>
          <a:noFill/>
          <a:ln w="19050">
            <a:solidFill>
              <a:srgbClr val="E306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194560"/>
            <a:ext cx="14630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Sarah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BROUASRIA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Alteryx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Data Prep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31720" y="2194560"/>
            <a:ext cx="14630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3172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Caryl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ANDRE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31720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Python/Alteryx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API OpenAI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94760" y="2194560"/>
            <a:ext cx="14630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9476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Kamel E.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BELOUCHRANI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94760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Visualization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66360" y="2194560"/>
            <a:ext cx="14630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Sidy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66360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Alteryx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Data Prep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20840" y="2194560"/>
            <a:ext cx="14630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2084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Vlad-Andrei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PETRE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20840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Bucharest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University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Méthodologie — 6 Sprints Agile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3749040"/>
            <a:ext cx="1097280" cy="86868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" y="37673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508760" y="3749040"/>
            <a:ext cx="1097280" cy="86868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508760" y="37673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0876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Données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0" y="3749040"/>
            <a:ext cx="1097280" cy="86868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43200" y="37673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74320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Alteryx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77640" y="3749040"/>
            <a:ext cx="1097280" cy="868680"/>
          </a:xfrm>
          <a:prstGeom prst="rect">
            <a:avLst/>
          </a:prstGeom>
          <a:solidFill>
            <a:srgbClr val="E3061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977640" y="37673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97764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OpenAI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12080" y="3749040"/>
            <a:ext cx="1097280" cy="868680"/>
          </a:xfrm>
          <a:prstGeom prst="rect">
            <a:avLst/>
          </a:prstGeom>
          <a:solidFill>
            <a:srgbClr val="E3061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212080" y="37673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1208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46520" y="3749040"/>
            <a:ext cx="1097280" cy="868680"/>
          </a:xfrm>
          <a:prstGeom prst="rect">
            <a:avLst/>
          </a:prstGeom>
          <a:solidFill>
            <a:srgbClr val="F0A5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446520" y="37673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4652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Tests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680960" y="3749040"/>
            <a:ext cx="1097280" cy="868680"/>
          </a:xfrm>
          <a:prstGeom prst="rect">
            <a:avLst/>
          </a:prstGeom>
          <a:solidFill>
            <a:srgbClr val="2ECC7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680960" y="37673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S6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68096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Clôture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&amp; Karim Belgacem  |  Fin.Bot SG — Datathon 2024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— Estimation des coûts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Planification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0" y="1078992"/>
            <a:ext cx="5029200" cy="29260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078992"/>
            <a:ext cx="792480" cy="2926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</a:rPr>
              <a:t>5,200 €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Recherche &amp; Analyse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1600200"/>
            <a:ext cx="5029200" cy="29260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600200"/>
            <a:ext cx="1767840" cy="2926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1527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</a:rPr>
              <a:t>11,600 €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048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Conception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2121408"/>
            <a:ext cx="5029200" cy="29260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2121408"/>
            <a:ext cx="1082040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20482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</a:rPr>
              <a:t>7,100 €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2569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Développement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2642616"/>
            <a:ext cx="5029200" cy="29260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2642616"/>
            <a:ext cx="5029200" cy="29260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569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0613"/>
                </a:solidFill>
              </a:rPr>
              <a:t>33,000 €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30906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Tests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0" y="3163824"/>
            <a:ext cx="5029200" cy="29260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3163824"/>
            <a:ext cx="1447800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0906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</a:rPr>
              <a:t>9,500 €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Lancement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0" y="3685032"/>
            <a:ext cx="5029200" cy="29260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0" y="3685032"/>
            <a:ext cx="830580" cy="2926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3611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</a:rPr>
              <a:t>5,450 €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133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Suivi &amp; Amélioration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4206240"/>
            <a:ext cx="5029200" cy="292608"/>
          </a:xfrm>
          <a:prstGeom prst="rect">
            <a:avLst/>
          </a:prstGeom>
          <a:solidFill>
            <a:srgbClr val="1A2340"/>
          </a:solidFill>
          <a:ln/>
        </p:spPr>
      </p:sp>
      <p:sp>
        <p:nvSpPr>
          <p:cNvPr id="31" name="Shape 29"/>
          <p:cNvSpPr/>
          <p:nvPr/>
        </p:nvSpPr>
        <p:spPr>
          <a:xfrm>
            <a:off x="2560320" y="4206240"/>
            <a:ext cx="1600200" cy="2926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41330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</a:rPr>
              <a:t>10,500 €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8595360" cy="502920"/>
          </a:xfrm>
          <a:prstGeom prst="rect">
            <a:avLst/>
          </a:prstGeom>
          <a:solidFill>
            <a:srgbClr val="1C2951"/>
          </a:solidFill>
          <a:ln w="2540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617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0613"/>
                </a:solidFill>
              </a:rPr>
              <a:t>TOTAL GÉNÉRAL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4617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82 350 €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— Conclusion &amp; Recommandations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E306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594360" cy="59436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Nouvelle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Optimiser la scalabilité et les performances. Migrer vers une architecture microservices cloud-native.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6052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43000"/>
            <a:ext cx="594360" cy="5943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1430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Approche Agile renforcée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Itérations plus courtes, feedback continu des utilisateurs SG. Intégration CI/CD pour le déploiement.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6052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063240"/>
            <a:ext cx="594360" cy="59436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0632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Multi-langues &amp; devises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Accessibilité mondiale — conformité normes locales. Optimisation des échanges internationaux SG.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160520" cy="1737360"/>
          </a:xfrm>
          <a:prstGeom prst="rect">
            <a:avLst/>
          </a:prstGeom>
          <a:solidFill>
            <a:srgbClr val="F8FAFC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063240"/>
            <a:ext cx="594360" cy="5943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30632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Call Bot vocal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7490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Requêtes complexes en langage parlé. Accessibilité accrue et gain de productivité pour les analystes.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Rafika Ayari Cervera &amp; Karim Belgacem  |  Fin.Bot SG — Datathon 2024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Merci de votre attention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27432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EDF5"/>
                </a:solidFill>
              </a:rPr>
              <a:t>Any Questions 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MBA ESG Paris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92608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ESG Executive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92608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Bucharest University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Société Générale GSC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47472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Alteryx SparkED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47472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1C295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Actinvision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Rafika Ayari Cervera  —  linkedin.com/in/rafikacervera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Fin.Bot SG — Chatbot Financier Gen AI</dc:title>
  <dc:subject>PptxGenJS Presentation</dc:subject>
  <dc:creator>Rafika Ayari Cervera</dc:creator>
  <cp:lastModifiedBy>Rafika Ayari Cervera</cp:lastModifiedBy>
  <cp:revision>1</cp:revision>
  <dcterms:created xsi:type="dcterms:W3CDTF">2026-03-18T10:53:31Z</dcterms:created>
  <dcterms:modified xsi:type="dcterms:W3CDTF">2026-03-18T10:53:31Z</dcterms:modified>
</cp:coreProperties>
</file>